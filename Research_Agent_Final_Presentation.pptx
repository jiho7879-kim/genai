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Research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9C46A"/>
                </a:solidFill>
                <a:latin typeface="Calibri"/>
              </a:defRPr>
            </a:pPr>
            <a:r>
              <a:t>TCAD + Semiconductor Device Paper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65760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Fast Campus Gen AI Intensive Course — Final Project</a:t>
            </a:r>
            <a:br/>
            <a:r>
              <a:t>석사 2년용 개인 Research Assistant</a:t>
            </a:r>
            <a:br/>
            <a:r>
              <a:t>반도체소자 + TCAD Simulation + ML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2026. 06. 29 — 07. 10  |  Ollama + Langchain + FAISS + BGE-m3 +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❌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석사 2년 동안 수백 편의 논문을 읽고 관리해야 함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반도체소자 + TCAD + ML — 3개 도메인을 동시에 커버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PDF 파일이 흩어져 있고, 원하는 내용을 찾기 어려움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새로운 논문을 찾고 요약하는 데 시간 소모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시험기간(중간 7/2, 기말 7/10)과 프로젝트 병행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75488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✅ 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하나의 Streamlit 앱으로 모든 논문 관리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PDF 업로드 → 자동 인덱싱 → 질의응답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Multi-Agent가 의도를 파악하여 최적의 답변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Arxiv 검색으로 최신 논문 발견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시행착오를 체계적으로 기록 (final report 활용)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Design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3200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73152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D77"/>
                </a:solidFill>
                <a:latin typeface="Calibri"/>
              </a:defRPr>
            </a:pPr>
            <a:r>
              <a:t>CPU-only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Intel Iris Xe iGPU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32GB 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560320" cy="3200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5603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86AB"/>
                </a:solidFill>
                <a:latin typeface="Calibri"/>
              </a:defRPr>
            </a:pPr>
            <a:r>
              <a:t>사외망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외부 API-key 서비스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사용 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560320" cy="3200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5603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Ollama Local LLM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+ Zen Free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560320" cy="3200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5603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39C12"/>
                </a:solidFill>
                <a:latin typeface="Calibri"/>
              </a:defRPr>
            </a:pPr>
            <a:r>
              <a:t>Single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7744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pip install &amp;&amp;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streamlit run app.py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9C46A"/>
                </a:solidFill>
                <a:latin typeface="Calibri"/>
              </a:defRPr>
            </a:pPr>
            <a:r>
              <a:t>모든 기술 선택은 위 4가지 제약조건의 교집합에서 이루어짐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D77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Frontend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RAG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Calibri"/>
              </a:defRPr>
            </a:pPr>
            <a:r>
              <a:t>FAISS (CPU)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2918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39C12"/>
                </a:solidFill>
                <a:latin typeface="Calibri"/>
              </a:defRPr>
            </a:pPr>
            <a:r>
              <a:t>BAAI/bge-m3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Embedding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80"/>
            <a:ext cx="32918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  <a:latin typeface="Calibri"/>
              </a:defRPr>
            </a:pPr>
            <a:r>
              <a:t>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Local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840480"/>
            <a:ext cx="329184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114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E44AD"/>
                </a:solidFill>
                <a:latin typeface="Calibri"/>
              </a:defRPr>
            </a:pPr>
            <a:r>
              <a:t>Arxiv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Paper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463040" cy="82296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Input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2926080"/>
            <a:ext cx="73152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2103120"/>
            <a:ext cx="20116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9C46A"/>
                </a:solidFill>
                <a:latin typeface="Calibri"/>
              </a:defRPr>
            </a:pPr>
            <a:r>
              <a:t>Supervisor</a:t>
            </a:r>
            <a:br/>
            <a:r>
              <a:t>Agent</a:t>
            </a:r>
          </a:p>
          <a:p>
            <a:pPr>
              <a:defRPr sz="1100">
                <a:solidFill>
                  <a:srgbClr val="666666"/>
                </a:solidFill>
                <a:latin typeface="Calibri"/>
              </a:defRPr>
            </a:pPr>
            <a:r>
              <a:t>Intent: {paper,</a:t>
            </a:r>
            <a:br/>
            <a:r>
              <a:t>search, report}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03520" y="2286000"/>
            <a:ext cx="548640" cy="320040"/>
          </a:xfrm>
          <a:prstGeom prst="rightArrow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303520" y="2926080"/>
            <a:ext cx="548640" cy="32004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303520" y="3566160"/>
            <a:ext cx="54864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182880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D77"/>
                </a:solidFill>
                <a:latin typeface="Calibri"/>
              </a:defRPr>
            </a:pPr>
            <a:r>
              <a:t>Paper</a:t>
            </a:r>
            <a:br/>
            <a:r>
              <a:t>Agent</a:t>
            </a:r>
          </a:p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RAG Q&amp;A</a:t>
            </a:r>
            <a:br/>
            <a:r>
              <a:t>FAISS + BGE-m3</a:t>
            </a:r>
            <a:br/>
            <a:r>
              <a:t>+ Ollama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560320"/>
            <a:ext cx="182880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86AB"/>
                </a:solidFill>
                <a:latin typeface="Calibri"/>
              </a:defRPr>
            </a:pPr>
            <a:r>
              <a:t>Arxiv</a:t>
            </a:r>
            <a:br/>
            <a:r>
              <a:t>Search</a:t>
            </a:r>
            <a:br/>
            <a:r>
              <a:t>Agent</a:t>
            </a:r>
          </a:p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Arxiv API</a:t>
            </a:r>
            <a:br/>
            <a:r>
              <a:t>+ LLM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291840"/>
            <a:ext cx="182880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Report</a:t>
            </a:r>
            <a:br/>
            <a:r>
              <a:t>Agent</a:t>
            </a:r>
          </a:p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Markdown</a:t>
            </a:r>
            <a:br/>
            <a:r>
              <a:t>Formatting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46720" y="2011680"/>
            <a:ext cx="5486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046720" y="3108960"/>
            <a:ext cx="5486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046720" y="3840480"/>
            <a:ext cx="5486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0" y="2560320"/>
            <a:ext cx="1645920" cy="109728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Final</a:t>
            </a:r>
            <a:br/>
            <a:r>
              <a:t>Answer +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5029200"/>
            <a:ext cx="50292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Streamlit UI — 3 Tabs: Paper Lab | Arxiv Search | About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4572000"/>
            <a:ext cx="13716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D77"/>
                </a:solidFill>
                <a:latin typeface="Calibri"/>
              </a:defRPr>
            </a:pPr>
            <a:r>
              <a:t>📤  PDF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PyMuPDF → Chunk → BGE-m3 → FAISS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자동 임베딩 및 인덱싱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21945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AB"/>
                </a:solidFill>
                <a:latin typeface="Calibri"/>
              </a:defRPr>
            </a:pPr>
            <a:r>
              <a:t>💬  RAG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Langchain RetrievalQA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+ Ollama LLM + Source Citation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21945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🤖  Multi-Agent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Supervisor → Paper / Arxiv / Report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의도 기반 라우팅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291840" cy="21945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9C12"/>
                </a:solidFill>
                <a:latin typeface="Calibri"/>
              </a:defRPr>
            </a:pPr>
            <a:r>
              <a:t>🔍  Arxiv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최신 논문 검색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+ LLM 요약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291840" cy="21945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📋  Report 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RAG + Search 통합 보고서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Markdown 자동 포맷팅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23360"/>
            <a:ext cx="3291840" cy="21945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E44AD"/>
                </a:solidFill>
                <a:latin typeface="Calibri"/>
              </a:defRPr>
            </a:pPr>
            <a:r>
              <a:t>🧠  Agent 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실시간 Agent 의사결정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과정 시각화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 Pipeline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Supervisor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Ollama qwen3.5:4b, temperature=0.0, num_predict=64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Intent → paper: RAG 질의  |  search: Arxiv 검색  |  report: 통합 보고서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Classification prompt with few-shot examples → deterministic label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291840" cy="29260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D77"/>
                </a:solidFill>
                <a:latin typeface="Calibri"/>
              </a:defRPr>
            </a:pPr>
            <a:r>
              <a:t>Paper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RAGChain wrapping FAISS + Ollama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RetrievalQA (chain_type='stuff')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Source dedup by content hash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Model switching at runtime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Summarization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91840"/>
            <a:ext cx="3291840" cy="29260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AB"/>
                </a:solidFill>
                <a:latin typeface="Calibri"/>
              </a:defRPr>
            </a:pPr>
            <a:r>
              <a:t>Arxiv Search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Arxiv API (no API key needed)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1-hour in-memory cache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LLM-generated paper summaries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Detail fetch by Arxiv ID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Max results configurable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3291840" cy="29260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Report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Markdown formatting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RAG + Search fusion reports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Source citation formatting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Optional LLM enhancement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Multi-section report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371600"/>
            <a:ext cx="14630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371600"/>
            <a:ext cx="12801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4572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54864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828800"/>
            <a:ext cx="146304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1874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828800"/>
            <a:ext cx="219456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1874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FAISS vs Chroma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828800"/>
            <a:ext cx="128016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874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D77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457200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874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서버리스, 단일 명령어 실행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240280"/>
            <a:ext cx="548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286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224028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240280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Ollama vs BGE-m3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240280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D77"/>
                </a:solidFill>
                <a:latin typeface="Calibri"/>
              </a:defRPr>
            </a:pPr>
            <a:r>
              <a:t>BGE-m3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240280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다국어 + TCAD 용어, CPU 동작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651760"/>
            <a:ext cx="54864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2651760"/>
            <a:ext cx="146304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RAG Framework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2651760"/>
            <a:ext cx="219456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2697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Langchain vs 직접 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651760"/>
            <a:ext cx="128016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D77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651760"/>
            <a:ext cx="457200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697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RetrievalQA stuff 체인 효율적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063240"/>
            <a:ext cx="548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3108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306324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588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Agent Pattern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063240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88920" y="3108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Langgraph vs Class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063240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8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D77"/>
                </a:solidFill>
                <a:latin typeface="Calibri"/>
              </a:defRPr>
            </a:pPr>
            <a:r>
              <a:t>Class-based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063240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3108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4개 Agent는 단순 composition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474720"/>
            <a:ext cx="54864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3520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3474720"/>
            <a:ext cx="146304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25880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Intent Classify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3474720"/>
            <a:ext cx="219456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88920" y="3520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LLM vs Rule-based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3474720"/>
            <a:ext cx="128016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3480" y="3520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D77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474720"/>
            <a:ext cx="457200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3520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확장성, 프로젝트 평가 반영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3886200"/>
            <a:ext cx="548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80160" y="3886200"/>
            <a:ext cx="1463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2588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PDF Parser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886200"/>
            <a:ext cx="2194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8892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PyMuPDF vs Unstructured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60" y="3886200"/>
            <a:ext cx="1280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83480" y="3931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D77"/>
                </a:solidFill>
                <a:latin typeface="Calibri"/>
              </a:defRPr>
            </a:pPr>
            <a:r>
              <a:t>PyMuPDF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3886200"/>
            <a:ext cx="4572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가벼움, Langchain 호환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Trial &amp; Error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모든 시행착오는 .omo/errors/에 체계적으로 기록 — Final Report 포함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572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645920"/>
            <a:ext cx="256032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73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Issue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645920"/>
            <a:ext cx="73152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733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59436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733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Lesson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011680"/>
            <a:ext cx="25603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057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PDF 텍스트 추출 실패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2011680"/>
            <a:ext cx="7315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057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011680"/>
            <a:ext cx="59436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0574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이미지 PDF는 OCR 필요, PyMuPDF만으로 불가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24688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대용량 PDF look_at 타임아웃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246888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514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246888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5146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150p PDF → 페이지 단위 분할 처리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2926080"/>
            <a:ext cx="25603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PowerShell vs Bash 문법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2926080"/>
            <a:ext cx="7315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2971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2926080"/>
            <a:ext cx="59436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2971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Windows `&amp;&amp;` → `; if ($?) { }`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33832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3429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계획 v1→v2→v3 진화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338328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6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338328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34290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Q1~Q5 기술 선택 근거 문서화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8720" y="3840480"/>
            <a:ext cx="25603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아키텍쳐 결정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40" y="3840480"/>
            <a:ext cx="7315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476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3840480"/>
            <a:ext cx="59436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38862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FAISS, BGE-m3, Class-based Agent 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" y="42976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34440" y="4343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pip install 타임아웃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429768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476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429768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43434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torch 2GB+ → timeout 10분으로 증가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88720" y="4754880"/>
            <a:ext cx="25603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3444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Langchain 모듈 경로 변경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40" y="4754880"/>
            <a:ext cx="73152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4760" y="4800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4754880"/>
            <a:ext cx="59436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26280" y="48006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chains → langchain_classic migration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88720" y="52120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34440" y="5257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통합 테스트 결과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40" y="521208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4760" y="5257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80560" y="521208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26280" y="5257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Import 체인 검증 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to Run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1463040"/>
            <a:ext cx="457200" cy="45720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Install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ollama pull qwen3.5:4b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ollama pull qwen3.5:9b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01168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1463040"/>
            <a:ext cx="457200" cy="45720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Install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pip install -r requirements.txt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(3~10분 소요)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80" y="201168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0" y="1463040"/>
            <a:ext cx="457200" cy="45720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Launch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streamlit run app.py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자동으로 브라우저 열림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49440" y="201168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19" y="1463040"/>
            <a:ext cx="457200" cy="45720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Upload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Paper Lab 탭 → PDF 업로드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→ 자동 인덱싱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43999" y="201168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1463040"/>
            <a:ext cx="457200" cy="45720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Ask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채팅 입력 → Agent Pipeline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→ 답변 + 출처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10515600" cy="21031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Calibri"/>
              </a:defRPr>
            </a:pPr>
            <a:r>
              <a:t>💡 Sample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6344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"What does this paper say about TCAD calibration?"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"Summarize the key findings on GAA FET"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"Search for TCAD machine learning papers on Arxiv"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"Write a report comparing ML methods in my papers"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9C46A"/>
                </a:solidFill>
                <a:latin typeface="Calibri"/>
              </a:defRPr>
            </a:pPr>
            <a:r>
              <a:t>Research Agent — TCAD + Semiconductor Device Paper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017520"/>
            <a:ext cx="3657600" cy="274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📤 PDF Ingestion → BGE-m3 Embedding → FAISS Index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🤖 Multi-Agent Pipeline (Supervisor → Paper/Arxiv/Report)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💬 RAG Q&amp;A with Source Citation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🔍 Arxiv Search with LLM Summarization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📋 Comprehensive Report Generation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📝 체계적인 Trial &amp; Error 문서화 (Final Report 포함)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Fast Campus Gen AI Intensive Course  |  2026. 06. 29 — 07.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