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Research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9C46A"/>
                </a:solidFill>
                <a:latin typeface="Calibri"/>
              </a:defRPr>
            </a:pPr>
            <a:r>
              <a:t>TCAD + Semiconductor Device Paper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474720"/>
            <a:ext cx="3657600" cy="365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Fast Campus Gen AI Intensive Course — Final Project</a:t>
            </a:r>
            <a:br/>
            <a:r>
              <a:t>석사 2년용 개인 Research Assistant</a:t>
            </a:r>
            <a:br/>
            <a:r>
              <a:t>반도체소자 + TCAD Simulation + ML Methodology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Calibri"/>
              </a:defRPr>
            </a:pPr>
            <a:r>
              <a:t>2026. 06. 29 — 07. 10  |  Ollama + Langchain + FAISS + BGE-m3 +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0292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❌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석사 2년 동안 수백 편의 논문을 읽고 관리해야 함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반도체소자 + TCAD + ML — 3개 도메인을 동시에 커버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PDF 파일이 흩어져 있고, 원하는 내용을 찾기 어려움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새로운 논문을 찾고 요약하는 데 시간 소모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시험기간(중간 7/2, 기말 7/10)과 프로젝트 병행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4754880"/>
          </a:xfrm>
          <a:prstGeom prst="round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6459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Calibri"/>
              </a:defRPr>
            </a:pPr>
            <a:r>
              <a:t>✅ 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28600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하나의 Streamlit 앱으로 모든 논문 관리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PDF 업로드 → 자동 인덱싱 → 질의응답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Multi-Agent가 의도를 파악하여 최적의 답변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Arxiv 검색으로 최신 논문 발견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시행착오를 체계적으로 기록 (final report 활용)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Design Constraints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60320" cy="3200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560320" cy="73152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6D77"/>
                </a:solidFill>
                <a:latin typeface="Calibri"/>
              </a:defRPr>
            </a:pPr>
            <a:r>
              <a:t>CPU-only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Intel Iris Xe iGPU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32GB 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463040"/>
            <a:ext cx="2560320" cy="3200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6160" y="1463040"/>
            <a:ext cx="2560320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7373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86AB"/>
                </a:solidFill>
                <a:latin typeface="Calibri"/>
              </a:defRPr>
            </a:pPr>
            <a:r>
              <a:t>사외망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37744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외부 API-key 서비스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사용 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463040"/>
            <a:ext cx="2560320" cy="3200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463040"/>
            <a:ext cx="256032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7AE60"/>
                </a:solidFill>
                <a:latin typeface="Calibri"/>
              </a:defRPr>
            </a:pPr>
            <a:r>
              <a:t>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7744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Ollama Local LLM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+ Zen Free fallback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560320" cy="3200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35440" y="1463040"/>
            <a:ext cx="256032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7373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39C12"/>
                </a:solidFill>
                <a:latin typeface="Calibri"/>
              </a:defRPr>
            </a:pPr>
            <a:r>
              <a:t>Single 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37744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pip install &amp;&amp;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streamlit run app.py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10515600" cy="10972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21208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9C46A"/>
                </a:solidFill>
                <a:latin typeface="Calibri"/>
              </a:defRPr>
            </a:pPr>
            <a:r>
              <a:t>모든 기술 선택은 위 4가지 제약조건의 교집합에서 이루어짐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6D77"/>
                </a:solidFill>
                <a:latin typeface="Calibri"/>
              </a:defRPr>
            </a:pPr>
            <a:r>
              <a:t>Streamlit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Frontend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29184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7373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86AB"/>
                </a:solidFill>
                <a:latin typeface="Calibri"/>
              </a:defRPr>
            </a:pPr>
            <a:r>
              <a:t>Langchain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77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RAG Framework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29184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7373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7AE60"/>
                </a:solidFill>
                <a:latin typeface="Calibri"/>
              </a:defRPr>
            </a:pPr>
            <a:r>
              <a:t>FAISS (CPU)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77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Vector Store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329184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148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39C12"/>
                </a:solidFill>
                <a:latin typeface="Calibri"/>
              </a:defRPr>
            </a:pPr>
            <a:r>
              <a:t>BAAI/bge-m3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Embedding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840480"/>
            <a:ext cx="329184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41148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74C3C"/>
                </a:solidFill>
                <a:latin typeface="Calibri"/>
              </a:defRPr>
            </a:pPr>
            <a:r>
              <a:t>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7548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Local LLM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840480"/>
            <a:ext cx="329184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41148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E44AD"/>
                </a:solidFill>
                <a:latin typeface="Calibri"/>
              </a:defRPr>
            </a:pPr>
            <a:r>
              <a:t>Arxiv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7548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Paper Search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43200"/>
            <a:ext cx="1463040" cy="822960"/>
          </a:xfrm>
          <a:prstGeom prst="round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User</a:t>
            </a:r>
            <a:br/>
            <a:r>
              <a:t>Input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286000" y="2926080"/>
            <a:ext cx="731520" cy="4572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2103120"/>
            <a:ext cx="2011680" cy="20116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9C46A"/>
                </a:solidFill>
                <a:latin typeface="Calibri"/>
              </a:defRPr>
            </a:pPr>
            <a:r>
              <a:t>Supervisor</a:t>
            </a:r>
            <a:br/>
            <a:r>
              <a:t>Agent</a:t>
            </a:r>
          </a:p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Intent: {paper,</a:t>
            </a:r>
            <a:br/>
            <a:r>
              <a:t>search, report}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303520" y="2286000"/>
            <a:ext cx="548640" cy="320040"/>
          </a:xfrm>
          <a:prstGeom prst="rightArrow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303520" y="2926080"/>
            <a:ext cx="548640" cy="32004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303520" y="3566160"/>
            <a:ext cx="548640" cy="32004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0" y="1828800"/>
            <a:ext cx="1828800" cy="14630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6D77"/>
                </a:solidFill>
                <a:latin typeface="Calibri"/>
              </a:defRPr>
            </a:pPr>
            <a:r>
              <a:t>Paper</a:t>
            </a:r>
            <a:br/>
            <a:r>
              <a:t>Agent</a:t>
            </a:r>
          </a:p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RAG Q&amp;A</a:t>
            </a:r>
            <a:br/>
            <a:r>
              <a:t>FAISS + BGE-m3</a:t>
            </a:r>
            <a:br/>
            <a:r>
              <a:t>+ Ollama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560320"/>
            <a:ext cx="1828800" cy="14630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E86AB"/>
                </a:solidFill>
                <a:latin typeface="Calibri"/>
              </a:defRPr>
            </a:pPr>
            <a:r>
              <a:t>Arxiv</a:t>
            </a:r>
            <a:br/>
            <a:r>
              <a:t>Search</a:t>
            </a:r>
            <a:br/>
            <a:r>
              <a:t>Agent</a:t>
            </a:r>
          </a:p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Arxiv API</a:t>
            </a:r>
            <a:br/>
            <a:r>
              <a:t>+ LLM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291840"/>
            <a:ext cx="1828800" cy="14630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7AE60"/>
                </a:solidFill>
                <a:latin typeface="Calibri"/>
              </a:defRPr>
            </a:pPr>
            <a:r>
              <a:t>Report</a:t>
            </a:r>
            <a:br/>
            <a:r>
              <a:t>Agent</a:t>
            </a:r>
          </a:p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Markdown</a:t>
            </a:r>
            <a:br/>
            <a:r>
              <a:t>Formatting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46720" y="2011680"/>
            <a:ext cx="54864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046720" y="3108960"/>
            <a:ext cx="54864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8046720" y="3840480"/>
            <a:ext cx="54864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78240" y="2560320"/>
            <a:ext cx="1645920" cy="1097280"/>
          </a:xfrm>
          <a:prstGeom prst="round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Final</a:t>
            </a:r>
            <a:br/>
            <a:r>
              <a:t>Answer + Sources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5029200"/>
            <a:ext cx="5029200" cy="914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Streamlit UI — 3 Tabs: Paper Lab | Arxiv Search | About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86800" y="4572000"/>
            <a:ext cx="13716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21945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Calibri"/>
              </a:defRPr>
            </a:pPr>
            <a:r>
              <a:t>📤  PDF Ingestion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100">
                <a:solidFill>
                  <a:srgbClr val="333333"/>
                </a:solidFill>
              </a:rPr>
              <a:t>PyMuPDF4LLM → Layout Markdown → BGE-m3 → FAISS
Layout-aware (다단/표), OCR 자동 fallback,
파일 다중 업로드 (batch ingest), 제목 자동 추출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291840" cy="21945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AB"/>
                </a:solidFill>
                <a:latin typeface="Calibri"/>
              </a:defRPr>
            </a:pPr>
            <a:r>
              <a:t>💬  RAG Q&amp;A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100">
                <a:solidFill>
                  <a:srgbClr val="333333"/>
                </a:solidFill>
              </a:rPr>
              <a:t>Langchain RetrievalQA + Ollama + Source Citation
Semantic Chunking, Query Rewriting,
Multi-Strategy Retrieval (HyDE + RRF)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291840" cy="21945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7AE60"/>
                </a:solidFill>
                <a:latin typeface="Calibri"/>
              </a:defRPr>
            </a:pPr>
            <a:r>
              <a:t>🤖  Multi-Agent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9456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100">
                <a:solidFill>
                  <a:srgbClr val="333333"/>
                </a:solidFill>
              </a:rPr>
              <a:t>Ollama LLM Intent Classification (temperature=0.0)
→ Paper / Search / Report 라우팅
Agent Trace 실시간 시각화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3291840" cy="21945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06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39C12"/>
                </a:solidFill>
                <a:latin typeface="Calibri"/>
              </a:defRPr>
            </a:pPr>
            <a:r>
              <a:t>🔍  Arxiv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100">
                <a:solidFill>
                  <a:srgbClr val="333333"/>
                </a:solidFill>
              </a:rPr>
              <a:t>Arxiv 4.x API + 1h In-Memory Cache
+ Query Optimizer Agent
+ LLM Batch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023360"/>
            <a:ext cx="3291840" cy="21945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4206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74C3C"/>
                </a:solidFill>
                <a:latin typeface="Calibri"/>
              </a:defRPr>
            </a:pPr>
            <a:r>
              <a:t>📋  Report 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7548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100">
                <a:solidFill>
                  <a:srgbClr val="333333"/>
                </a:solidFill>
              </a:rPr>
              <a:t>RAG + Search 통합 보고서
Markdown 자동 포맷팅, 출처 인용 포함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023360"/>
            <a:ext cx="3291840" cy="21945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4206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E44AD"/>
                </a:solidFill>
                <a:latin typeface="Calibri"/>
              </a:defRPr>
            </a:pPr>
            <a:r>
              <a:t>🧠  Agent Trace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7548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100">
                <a:solidFill>
                  <a:srgbClr val="333333"/>
                </a:solidFill>
              </a:rPr>
              <a:t>Supervisor → Agent 선택 → 실행 → 완료
4단계 Trace 실시간 표시
각 Agent 상태/결과 표시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Agent Pipeline Detail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Supervisor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333333"/>
                </a:solidFill>
              </a:rPr>
              <a:t>Ollama qwen3.5:4b, temperature=0.0, num_predict=64
Intent → paper: RAG 질의 | search: Arxiv 검색 | report: 통합 보고서
● v1: Keyword-based classification (rule-based, fragile)
● v2 (current): LLM classification with few-shot examples → deterministic label
  route() 메서드가 supervise() 결과받아 Agent 라우팅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Intent → paper: RAG 질의  |  search: Arxiv 검색  |  report: 통합 보고서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t>Classification prompt with few-shot examples → deterministic label output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3291840" cy="29260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Calibri"/>
              </a:defRPr>
            </a:pPr>
            <a:r>
              <a:t>Paper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100" b="0">
                <a:solidFill>
                  <a:srgbClr val="333333"/>
                </a:solidFill>
              </a:rPr>
              <a:t>• RAGChain wrapping FAISS + BGE-m3 + Ollama
• RetrievalQA (chain_type='stuff') + Source Citation
• Phase 0: Semantic Chunking (section-aware boundary)
• Phase 1: Query Rewriting (HyDE + Decomposition + Expansion)
• Phase 2: Multi-Strategy Retrieval (Multi-Query + RRF Fusion)
• Phase 3: Academic Prompt Engineering (5 prompt templates)
• Phase 4: Answer Verification (claim grounding check)
• Phase 5: Analyst Pipeline (multi-step analysis workflow)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RetrievalQA (chain_type='stuff')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Source dedup by content hash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Model switching at runtime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Summarization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291840"/>
            <a:ext cx="3291840" cy="29260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3832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AB"/>
                </a:solidFill>
                <a:latin typeface="Calibri"/>
              </a:defRPr>
            </a:pPr>
            <a:r>
              <a:t>Arxiv Search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8404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100" b="0">
                <a:solidFill>
                  <a:srgbClr val="333333"/>
                </a:solidFill>
              </a:rPr>
              <a:t>• Arxiv API (no API key needed, 4.x Client API)
• 1-hour in-memory cache
• LLM-generated paper summaries + batch summarize
• Detail fetch by Arxiv ID + get_short_id()
• Query Optimizer Agent: rewrite → expand → search
• Max results configurable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1-hour in-memory cache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LLM-generated paper summaries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Detail fetch by Arxiv ID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Max results configurable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291840"/>
            <a:ext cx="3291840" cy="29260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33832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7AE60"/>
                </a:solidFill>
                <a:latin typeface="Calibri"/>
              </a:defRPr>
            </a:pPr>
            <a:r>
              <a:t>Report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8404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Markdown formatting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RAG + Search fusion reports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Source citation formatting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Optional LLM enhancement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Multi-section report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Design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371600"/>
            <a:ext cx="146304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14173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371600"/>
            <a:ext cx="219456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417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Options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371600"/>
            <a:ext cx="128016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Choice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45720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Rationale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1828800"/>
            <a:ext cx="54864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874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Q1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0160" y="1828800"/>
            <a:ext cx="146304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1874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Vector Store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828800"/>
            <a:ext cx="219456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8892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FAISS vs Chroma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1828800"/>
            <a:ext cx="128016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1874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6D77"/>
                </a:solidFill>
                <a:latin typeface="Calibri"/>
              </a:defRPr>
            </a:pPr>
            <a:r>
              <a:t>FAISS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828800"/>
            <a:ext cx="457200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187452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서버리스, 단일 명령어 실행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240280"/>
            <a:ext cx="5486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22860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Q2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80160" y="2240280"/>
            <a:ext cx="1463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2286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Embedding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24028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88920" y="2286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Ollama vs BGE-m3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0" y="2240280"/>
            <a:ext cx="128016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83480" y="22860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6D77"/>
                </a:solidFill>
                <a:latin typeface="Calibri"/>
              </a:defRPr>
            </a:pPr>
            <a:r>
              <a:t>BGE-m3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2240280"/>
            <a:ext cx="4572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228600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다국어 + TCAD 용어, CPU 동작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2651760"/>
            <a:ext cx="54864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26974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Q3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80160" y="2651760"/>
            <a:ext cx="146304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5880" y="2697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RAG Framework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0" y="2651760"/>
            <a:ext cx="219456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8920" y="26974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Langchain vs 직접 구현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2651760"/>
            <a:ext cx="128016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83480" y="2697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6D77"/>
                </a:solidFill>
                <a:latin typeface="Calibri"/>
              </a:defRPr>
            </a:pPr>
            <a:r>
              <a:t>Langchain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2651760"/>
            <a:ext cx="457200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269748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RetrievalQA stuff 체인 효율적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3063240"/>
            <a:ext cx="5486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31089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Q4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80160" y="3063240"/>
            <a:ext cx="1463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5880" y="3108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Agent Pattern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0" y="306324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88920" y="3108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Langgraph vs Class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760" y="3063240"/>
            <a:ext cx="128016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83480" y="3108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6D77"/>
                </a:solidFill>
                <a:latin typeface="Calibri"/>
              </a:defRPr>
            </a:pPr>
            <a:r>
              <a:t>Class-based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063240"/>
            <a:ext cx="4572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63640" y="310896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4개 Agent는 단순 composition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3474720"/>
            <a:ext cx="54864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3520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Q5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80160" y="3474720"/>
            <a:ext cx="146304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25880" y="3520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Intent Classify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3474720"/>
            <a:ext cx="219456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88920" y="35204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LLM vs Rule-based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37760" y="3474720"/>
            <a:ext cx="128016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83480" y="35204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6D77"/>
                </a:solidFill>
                <a:latin typeface="Calibri"/>
              </a:defRPr>
            </a:pPr>
            <a:r>
              <a:t>LLM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17920" y="3474720"/>
            <a:ext cx="457200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352044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확장성, 프로젝트 평가 반영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" y="3886200"/>
            <a:ext cx="5486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" y="39319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Q6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80160" y="3886200"/>
            <a:ext cx="1463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25880" y="3931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PDF Parser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0" y="388620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88920" y="39319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PyMuPDF vs Unstructured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37760" y="3886200"/>
            <a:ext cx="128016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83480" y="39319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6D77"/>
                </a:solidFill>
                <a:latin typeface="Calibri"/>
              </a:defRPr>
            </a:pPr>
            <a:r>
              <a:t>PyMuPDF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7920" y="3886200"/>
            <a:ext cx="4572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393192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가벼움, Langchain 호환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" y="4339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Q7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80160" y="4339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PDF Parser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43200" y="4339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PyMuPDF vs PyMuPDF4LLM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37760" y="4339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0C0"/>
                </a:solidFill>
              </a:rPr>
              <a:t>PyMuPDF4LLM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17920" y="4339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Layout-aware 추출, 다단 읽기,
OCR fallback, 학습된 parser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1520" y="4746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Q8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80160" y="4746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Intent Class.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746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Keyword vs LLM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37760" y="4746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0C0"/>
                </a:solidFill>
              </a:rPr>
              <a:t>LLM (Ollama)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4746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확장성, 평가 반영,
few-shot으로 안정화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51534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Q9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80160" y="5153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Batch Ingest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43200" y="515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Single vs Multi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37760" y="5153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0C0"/>
                </a:solidFill>
              </a:rPr>
              <a:t>Multi (Batch)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5153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사용자 편의성,
vector store merge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1520" y="55605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Q10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80160" y="5560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Vector Reset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43200" y="5560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UI Button
+ 2-step confirm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37760" y="55605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0C0"/>
                </a:solidFill>
              </a:rPr>
              <a:t>2-step Confirm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5560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실수 방지,
사용자 명시적 동의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Trial &amp; Error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모든 시행착오는 .omo/errors/에 체계적으로 기록 — Final Report 포함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457200" cy="3657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733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#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1645920"/>
            <a:ext cx="2560320" cy="3657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6733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Issue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40" y="1645920"/>
            <a:ext cx="731520" cy="3657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0" y="16733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645920"/>
            <a:ext cx="5943600" cy="3657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67335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Lesson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011680"/>
            <a:ext cx="45720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057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2011680"/>
            <a:ext cx="256032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2057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PDF 텍스트 추출 실패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40" y="2011680"/>
            <a:ext cx="73152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0574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2011680"/>
            <a:ext cx="594360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0574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이미지 PDF는 OCR 필요, PyMuPDF만으로 불가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514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2468880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대용량 PDF look_at 타임아웃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49040" y="2468880"/>
            <a:ext cx="7315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94760" y="25146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2468880"/>
            <a:ext cx="5943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25146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150p PDF → 페이지 단위 분할 처리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2926080"/>
            <a:ext cx="45720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2971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2926080"/>
            <a:ext cx="256032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34440" y="2971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PowerShell vs Bash 문법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2926080"/>
            <a:ext cx="73152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94760" y="2971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0" y="2926080"/>
            <a:ext cx="594360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80" y="29718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Windows `&amp;&amp;` → `; if ($?) { }`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3429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88720" y="3383280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34440" y="34290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계획 v1→v2→v3 진화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49040" y="3383280"/>
            <a:ext cx="7315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94760" y="34290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decision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0" y="3383280"/>
            <a:ext cx="5943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26280" y="34290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Q1~Q5 기술 선택 근거 문서화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3886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88720" y="3840480"/>
            <a:ext cx="256032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34440" y="3886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아키텍쳐 결정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49040" y="3840480"/>
            <a:ext cx="73152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94760" y="38862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7AE60"/>
                </a:solidFill>
                <a:latin typeface="Calibri"/>
              </a:defRPr>
            </a:pPr>
            <a:r>
              <a:t>decision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80560" y="3840480"/>
            <a:ext cx="594360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26280" y="38862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FAISS, BGE-m3, Class-based Agent 등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" y="4297680"/>
            <a:ext cx="457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" y="4343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88720" y="4297680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4440" y="4343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pip install 타임아웃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49040" y="4297680"/>
            <a:ext cx="7315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94760" y="43434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80560" y="4297680"/>
            <a:ext cx="5943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26280" y="43434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torch 2GB+ → timeout 10분으로 증가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4754880"/>
            <a:ext cx="45720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" y="4800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88720" y="4754880"/>
            <a:ext cx="256032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34440" y="4800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Langchain 모듈 경로 변경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49040" y="4754880"/>
            <a:ext cx="73152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94760" y="48006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80560" y="4754880"/>
            <a:ext cx="5943600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26280" y="48006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chains → langchain_classic migration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1520" y="5212080"/>
            <a:ext cx="457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5257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88720" y="5212080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34440" y="5257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통합 테스트 결과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749040" y="5212080"/>
            <a:ext cx="7315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94760" y="5257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39C12"/>
                </a:solidFill>
                <a:latin typeface="Calibri"/>
              </a:defRPr>
            </a:pPr>
            <a:r>
              <a:t>test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80560" y="5212080"/>
            <a:ext cx="5943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26280" y="52578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Import 체인 검증 완료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7240" y="57150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34440" y="5715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arxiv 4.x API 호환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794760" y="5715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D05050"/>
                </a:solidFill>
              </a:rPr>
              <a:t>code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26280" y="5715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버전 고정 부재 → Client API로 마이그레이션,
requirements.txt 버전 제한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7240" y="6172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34440" y="6172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Ingest 성능 진단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94760" y="61722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0C0"/>
                </a:solidFill>
              </a:rPr>
              <a:t>decision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6172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BGE-m3 Embedding이 전체 시간 99% 차지,
병렬 처리/캐싱 plan 수립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7240" y="66294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34440" y="6629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Ollama 연결 실패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4760" y="66294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88000"/>
                </a:solidFill>
              </a:rPr>
              <a:t>bug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26280" y="6629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ConnectionRefusedError → Ollama 실행 확인 로직 추가,
UI에 실행 상태 표시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7240" y="7086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12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34440" y="7086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Metadata Persistence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794760" y="70866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0C0"/>
                </a:solidFill>
              </a:rPr>
              <a:t>decision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7086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FAISS 재시작 시 ingest 내역 소실 →
metadata JSON 저장소 도입 (vi/filename/source)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7240" y="75438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34440" y="7543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Harness Engineering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4760" y="7543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0C0"/>
                </a:solidFill>
              </a:rPr>
              <a:t>decision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26280" y="7543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ruff + pytest + import 검증 harness 구축,
119 tests pass + ruff clean 유지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77240" y="80010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234440" y="8001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Arxiv Agent 개선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794760" y="8001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0C0"/>
                </a:solidFill>
              </a:rPr>
              <a:t>decision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26280" y="8001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Query Optimizer Agent + batch summarize +
rerank + LLM intent classification 도입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7240" y="8458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34440" y="8458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Paper Agent RAG 고도화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794760" y="84582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0C0"/>
                </a:solidFill>
              </a:rPr>
              <a:t>decision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26280" y="8458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Phase 0-5: Semantic Chunking → Query Rewrite
→ Multi-Strategy → Academic Prompt → Verify → Analyst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7240" y="89154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2E"/>
                </a:solidFill>
              </a:rPr>
              <a:t>16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34440" y="8915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Keyword→LLM 분류 전환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794760" y="89154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0C0"/>
                </a:solidFill>
              </a:rPr>
              <a:t>decision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526280" y="8915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</a:rPr>
              <a:t>rule-based intent → Ollama few-shot LLM,
temperature=0.0으로 결정적 출력 보장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to Run</a:t>
            </a:r>
          </a:p>
        </p:txBody>
      </p:sp>
      <p:sp>
        <p:nvSpPr>
          <p:cNvPr id="4" name="Oval 3"/>
          <p:cNvSpPr/>
          <p:nvPr/>
        </p:nvSpPr>
        <p:spPr>
          <a:xfrm>
            <a:off x="1463040" y="1463040"/>
            <a:ext cx="457200" cy="457200"/>
          </a:xfrm>
          <a:prstGeom prst="ellipse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Install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ollama pull qwen3.5:4b</a:t>
            </a:r>
          </a:p>
          <a:p>
            <a:pPr algn="ctr">
              <a:spcAft>
                <a:spcPts val="4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ollama pull qwen3.5:9b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011680"/>
            <a:ext cx="274320" cy="18288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57600" y="1463040"/>
            <a:ext cx="457200" cy="457200"/>
          </a:xfrm>
          <a:prstGeom prst="ellipse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103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Install 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pip install -r requirements.txt</a:t>
            </a:r>
          </a:p>
          <a:p>
            <a:pPr algn="ctr">
              <a:spcAft>
                <a:spcPts val="4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(3~10분 소요)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54880" y="2011680"/>
            <a:ext cx="274320" cy="18288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0" y="1463040"/>
            <a:ext cx="457200" cy="457200"/>
          </a:xfrm>
          <a:prstGeom prst="ellipse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103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Launch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streamlit run app.py</a:t>
            </a:r>
          </a:p>
          <a:p>
            <a:pPr algn="ctr">
              <a:spcAft>
                <a:spcPts val="4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자동으로 브라우저 열림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949440" y="2011680"/>
            <a:ext cx="274320" cy="18288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19" y="1463040"/>
            <a:ext cx="457200" cy="457200"/>
          </a:xfrm>
          <a:prstGeom prst="ellipse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9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2103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Upload 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39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Paper Lab 탭 → PDF 업로드</a:t>
            </a:r>
          </a:p>
          <a:p>
            <a:pPr algn="ctr">
              <a:spcAft>
                <a:spcPts val="4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→ 자동 인덱싱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143999" y="2011680"/>
            <a:ext cx="274320" cy="18288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1463040"/>
            <a:ext cx="457200" cy="457200"/>
          </a:xfrm>
          <a:prstGeom prst="ellipse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2103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Ask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채팅 입력 → Agent Pipeline</a:t>
            </a:r>
          </a:p>
          <a:p>
            <a:pPr algn="ctr">
              <a:spcAft>
                <a:spcPts val="4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→ 답변 + 출처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114800"/>
            <a:ext cx="10515600" cy="21031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6D77"/>
                </a:solidFill>
                <a:latin typeface="Calibri"/>
              </a:defRPr>
            </a:pPr>
            <a:r>
              <a:t>💡 Sample Queries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66344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"What does this paper say about TCAD calibration?"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"Summarize the key findings on GAA FET"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"Search for TCAD machine learning papers on Arxiv"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"Write a report comparing ML methods in my papers"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9C46A"/>
                </a:solidFill>
                <a:latin typeface="Calibri"/>
              </a:defRPr>
            </a:pPr>
            <a:r>
              <a:t>Research Agent — TCAD + Semiconductor Device Paper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017520"/>
            <a:ext cx="365760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3291840"/>
            <a:ext cx="7315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📤 PDF Ingestion → BGE-m3 Embedding → FAISS Index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🤖 Multi-Agent Pipeline (Supervisor → Paper/Arxiv/Report)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💬 RAG Q&amp;A with Source Citation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🔍 Arxiv Search with LLM Summarization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📋 Comprehensive Report Generation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📝 체계적인 Trial &amp; Error 문서화 (Final Report 포함)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Fast Campus Gen AI Intensive Course  |  2026. 06. 29 — 07.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